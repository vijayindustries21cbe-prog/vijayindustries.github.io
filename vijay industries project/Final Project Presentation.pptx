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nva Sans" panose="020B0604020202020204" charset="0"/>
      <p:regular r:id="rId11"/>
    </p:embeddedFont>
    <p:embeddedFont>
      <p:font typeface="Canva Sans Bold" panose="020B0604020202020204" charset="0"/>
      <p:regular r:id="rId12"/>
    </p:embeddedFont>
    <p:embeddedFont>
      <p:font typeface="Open Sauce" panose="020B0604020202020204" charset="0"/>
      <p:regular r:id="rId13"/>
    </p:embeddedFont>
    <p:embeddedFont>
      <p:font typeface="Open Sauce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grpSp>
        <p:nvGrpSpPr>
          <p:cNvPr id="2" name="Group 2"/>
          <p:cNvGrpSpPr/>
          <p:nvPr/>
        </p:nvGrpSpPr>
        <p:grpSpPr>
          <a:xfrm>
            <a:off x="355316" y="308125"/>
            <a:ext cx="5646861" cy="1711463"/>
            <a:chOff x="0" y="0"/>
            <a:chExt cx="7529148" cy="2281951"/>
          </a:xfrm>
        </p:grpSpPr>
        <p:sp>
          <p:nvSpPr>
            <p:cNvPr id="3" name="Freeform 3"/>
            <p:cNvSpPr/>
            <p:nvPr/>
          </p:nvSpPr>
          <p:spPr>
            <a:xfrm>
              <a:off x="0" y="0"/>
              <a:ext cx="7529195" cy="2281936"/>
            </a:xfrm>
            <a:custGeom>
              <a:avLst/>
              <a:gdLst/>
              <a:ahLst/>
              <a:cxnLst/>
              <a:rect l="l" t="t" r="r" b="b"/>
              <a:pathLst>
                <a:path w="7529195" h="2281936">
                  <a:moveTo>
                    <a:pt x="0" y="0"/>
                  </a:moveTo>
                  <a:lnTo>
                    <a:pt x="7529195" y="0"/>
                  </a:lnTo>
                  <a:lnTo>
                    <a:pt x="7529195" y="2281936"/>
                  </a:lnTo>
                  <a:lnTo>
                    <a:pt x="0" y="2281936"/>
                  </a:lnTo>
                  <a:lnTo>
                    <a:pt x="0" y="0"/>
                  </a:lnTo>
                  <a:close/>
                </a:path>
              </a:pathLst>
            </a:custGeom>
            <a:blipFill>
              <a:blip r:embed="rId2"/>
              <a:stretch>
                <a:fillRect/>
              </a:stretch>
            </a:blipFill>
          </p:spPr>
        </p:sp>
      </p:grpSp>
      <p:sp>
        <p:nvSpPr>
          <p:cNvPr id="4" name="TextBox 4"/>
          <p:cNvSpPr txBox="1"/>
          <p:nvPr/>
        </p:nvSpPr>
        <p:spPr>
          <a:xfrm>
            <a:off x="1028700" y="7599999"/>
            <a:ext cx="3343079" cy="379094"/>
          </a:xfrm>
          <a:prstGeom prst="rect">
            <a:avLst/>
          </a:prstGeom>
        </p:spPr>
        <p:txBody>
          <a:bodyPr lIns="0" tIns="0" rIns="0" bIns="0" rtlCol="0" anchor="t">
            <a:spAutoFit/>
          </a:bodyPr>
          <a:lstStyle/>
          <a:p>
            <a:pPr algn="just">
              <a:lnSpc>
                <a:spcPts val="3298"/>
              </a:lnSpc>
            </a:pPr>
            <a:r>
              <a:rPr lang="en-US" sz="3298" b="1" spc="328">
                <a:solidFill>
                  <a:srgbClr val="8C7753"/>
                </a:solidFill>
                <a:latin typeface="Open Sauce Bold"/>
                <a:ea typeface="Open Sauce Bold"/>
                <a:cs typeface="Open Sauce Bold"/>
                <a:sym typeface="Open Sauce Bold"/>
              </a:rPr>
              <a:t>ROHITH S</a:t>
            </a:r>
          </a:p>
        </p:txBody>
      </p:sp>
      <p:sp>
        <p:nvSpPr>
          <p:cNvPr id="5" name="TextBox 5"/>
          <p:cNvSpPr txBox="1"/>
          <p:nvPr/>
        </p:nvSpPr>
        <p:spPr>
          <a:xfrm>
            <a:off x="1028700" y="8082915"/>
            <a:ext cx="4973477" cy="1609726"/>
          </a:xfrm>
          <a:prstGeom prst="rect">
            <a:avLst/>
          </a:prstGeom>
        </p:spPr>
        <p:txBody>
          <a:bodyPr lIns="0" tIns="0" rIns="0" bIns="0" rtlCol="0" anchor="t">
            <a:spAutoFit/>
          </a:bodyPr>
          <a:lstStyle/>
          <a:p>
            <a:pPr algn="just">
              <a:lnSpc>
                <a:spcPts val="4198"/>
              </a:lnSpc>
            </a:pPr>
            <a:r>
              <a:rPr lang="en-US" sz="2999">
                <a:solidFill>
                  <a:srgbClr val="331B0D"/>
                </a:solidFill>
                <a:latin typeface="Open Sauce"/>
                <a:ea typeface="Open Sauce"/>
                <a:cs typeface="Open Sauce"/>
                <a:sym typeface="Open Sauce"/>
              </a:rPr>
              <a:t>23106108</a:t>
            </a:r>
          </a:p>
          <a:p>
            <a:pPr algn="just">
              <a:lnSpc>
                <a:spcPts val="4198"/>
              </a:lnSpc>
            </a:pPr>
            <a:r>
              <a:rPr lang="en-US" sz="2999">
                <a:solidFill>
                  <a:srgbClr val="331B0D"/>
                </a:solidFill>
                <a:latin typeface="Open Sauce"/>
                <a:ea typeface="Open Sauce"/>
                <a:cs typeface="Open Sauce"/>
                <a:sym typeface="Open Sauce"/>
              </a:rPr>
              <a:t>3rd BSC CS SHIFT-2</a:t>
            </a:r>
          </a:p>
          <a:p>
            <a:pPr algn="just">
              <a:lnSpc>
                <a:spcPts val="4198"/>
              </a:lnSpc>
            </a:pPr>
            <a:endParaRPr lang="en-US" sz="2999">
              <a:solidFill>
                <a:srgbClr val="331B0D"/>
              </a:solidFill>
              <a:latin typeface="Open Sauce"/>
              <a:ea typeface="Open Sauce"/>
              <a:cs typeface="Open Sauce"/>
              <a:sym typeface="Open Sauce"/>
            </a:endParaRPr>
          </a:p>
        </p:txBody>
      </p:sp>
      <p:sp>
        <p:nvSpPr>
          <p:cNvPr id="6" name="TextBox 6"/>
          <p:cNvSpPr txBox="1"/>
          <p:nvPr/>
        </p:nvSpPr>
        <p:spPr>
          <a:xfrm>
            <a:off x="0" y="2172399"/>
            <a:ext cx="18288000" cy="2423148"/>
          </a:xfrm>
          <a:prstGeom prst="rect">
            <a:avLst/>
          </a:prstGeom>
        </p:spPr>
        <p:txBody>
          <a:bodyPr lIns="0" tIns="0" rIns="0" bIns="0" rtlCol="0" anchor="t">
            <a:spAutoFit/>
          </a:bodyPr>
          <a:lstStyle/>
          <a:p>
            <a:pPr algn="ctr">
              <a:lnSpc>
                <a:spcPts val="9240"/>
              </a:lnSpc>
            </a:pPr>
            <a:r>
              <a:rPr lang="en-US" sz="6600" b="1">
                <a:solidFill>
                  <a:srgbClr val="000000"/>
                </a:solidFill>
                <a:latin typeface="Canva Sans Bold"/>
                <a:ea typeface="Canva Sans Bold"/>
                <a:cs typeface="Canva Sans Bold"/>
                <a:sym typeface="Canva Sans Bold"/>
              </a:rPr>
              <a:t>Design And Development Of Corporate Website </a:t>
            </a:r>
          </a:p>
        </p:txBody>
      </p:sp>
      <p:sp>
        <p:nvSpPr>
          <p:cNvPr id="7" name="TextBox 7"/>
          <p:cNvSpPr txBox="1"/>
          <p:nvPr/>
        </p:nvSpPr>
        <p:spPr>
          <a:xfrm>
            <a:off x="7918490" y="4778718"/>
            <a:ext cx="2451021" cy="864235"/>
          </a:xfrm>
          <a:prstGeom prst="rect">
            <a:avLst/>
          </a:prstGeom>
        </p:spPr>
        <p:txBody>
          <a:bodyPr lIns="0" tIns="0" rIns="0" bIns="0" rtlCol="0" anchor="t">
            <a:spAutoFit/>
          </a:bodyPr>
          <a:lstStyle/>
          <a:p>
            <a:pPr algn="ctr">
              <a:lnSpc>
                <a:spcPts val="6440"/>
              </a:lnSpc>
            </a:pPr>
            <a:r>
              <a:rPr lang="en-US" sz="4600">
                <a:solidFill>
                  <a:srgbClr val="000000"/>
                </a:solidFill>
                <a:latin typeface="Canva Sans"/>
                <a:ea typeface="Canva Sans"/>
                <a:cs typeface="Canva Sans"/>
                <a:sym typeface="Canva Sans"/>
              </a:rPr>
              <a:t>Review 1</a:t>
            </a:r>
          </a:p>
        </p:txBody>
      </p:sp>
      <p:sp>
        <p:nvSpPr>
          <p:cNvPr id="8" name="TextBox 8"/>
          <p:cNvSpPr txBox="1"/>
          <p:nvPr/>
        </p:nvSpPr>
        <p:spPr>
          <a:xfrm>
            <a:off x="10018345" y="7818121"/>
            <a:ext cx="4939125" cy="1242925"/>
          </a:xfrm>
          <a:prstGeom prst="rect">
            <a:avLst/>
          </a:prstGeom>
        </p:spPr>
        <p:txBody>
          <a:bodyPr lIns="0" tIns="0" rIns="0" bIns="0" rtlCol="0" anchor="t">
            <a:spAutoFit/>
          </a:bodyPr>
          <a:lstStyle/>
          <a:p>
            <a:pPr algn="just">
              <a:lnSpc>
                <a:spcPts val="3267"/>
              </a:lnSpc>
            </a:pPr>
            <a:r>
              <a:rPr lang="en-US" sz="3267" b="1" spc="325">
                <a:solidFill>
                  <a:srgbClr val="8C7753"/>
                </a:solidFill>
                <a:latin typeface="Open Sauce Bold"/>
                <a:ea typeface="Open Sauce Bold"/>
                <a:cs typeface="Open Sauce Bold"/>
                <a:sym typeface="Open Sauce Bold"/>
              </a:rPr>
              <a:t>DR. N. MAHENDIRAN</a:t>
            </a:r>
          </a:p>
          <a:p>
            <a:pPr algn="just">
              <a:lnSpc>
                <a:spcPts val="3267"/>
              </a:lnSpc>
            </a:pPr>
            <a:endParaRPr lang="en-US" sz="3267" b="1" spc="325">
              <a:solidFill>
                <a:srgbClr val="8C7753"/>
              </a:solidFill>
              <a:latin typeface="Open Sauce Bold"/>
              <a:ea typeface="Open Sauce Bold"/>
              <a:cs typeface="Open Sauce Bold"/>
              <a:sym typeface="Open Sauce Bold"/>
            </a:endParaRPr>
          </a:p>
          <a:p>
            <a:pPr algn="just">
              <a:lnSpc>
                <a:spcPts val="3267"/>
              </a:lnSpc>
            </a:pPr>
            <a:endParaRPr lang="en-US" sz="3267" b="1" spc="325">
              <a:solidFill>
                <a:srgbClr val="8C7753"/>
              </a:solidFill>
              <a:latin typeface="Open Sauce Bold"/>
              <a:ea typeface="Open Sauce Bold"/>
              <a:cs typeface="Open Sauce Bold"/>
              <a:sym typeface="Open Sauce Bold"/>
            </a:endParaRPr>
          </a:p>
        </p:txBody>
      </p:sp>
      <p:sp>
        <p:nvSpPr>
          <p:cNvPr id="9" name="TextBox 9"/>
          <p:cNvSpPr txBox="1"/>
          <p:nvPr/>
        </p:nvSpPr>
        <p:spPr>
          <a:xfrm>
            <a:off x="11489134" y="6879275"/>
            <a:ext cx="5503466" cy="587148"/>
          </a:xfrm>
          <a:prstGeom prst="rect">
            <a:avLst/>
          </a:prstGeom>
        </p:spPr>
        <p:txBody>
          <a:bodyPr wrap="square" lIns="0" tIns="0" rIns="0" bIns="0" rtlCol="0" anchor="t">
            <a:spAutoFit/>
          </a:bodyPr>
          <a:lstStyle/>
          <a:p>
            <a:pPr algn="ctr">
              <a:lnSpc>
                <a:spcPts val="4900"/>
              </a:lnSpc>
            </a:pPr>
            <a:r>
              <a:rPr lang="en-US" sz="3500" dirty="0">
                <a:solidFill>
                  <a:srgbClr val="000000"/>
                </a:solidFill>
                <a:latin typeface="Canva Sans"/>
                <a:ea typeface="Canva Sans"/>
                <a:cs typeface="Canva Sans"/>
                <a:sym typeface="Canva Sans"/>
              </a:rPr>
              <a:t>Under The Guidance of</a:t>
            </a:r>
          </a:p>
        </p:txBody>
      </p:sp>
      <p:sp>
        <p:nvSpPr>
          <p:cNvPr id="10" name="TextBox 10"/>
          <p:cNvSpPr txBox="1"/>
          <p:nvPr/>
        </p:nvSpPr>
        <p:spPr>
          <a:xfrm>
            <a:off x="14957471" y="7703821"/>
            <a:ext cx="3171111" cy="1064259"/>
          </a:xfrm>
          <a:prstGeom prst="rect">
            <a:avLst/>
          </a:prstGeom>
        </p:spPr>
        <p:txBody>
          <a:bodyPr lIns="0" tIns="0" rIns="0" bIns="0" rtlCol="0" anchor="t">
            <a:spAutoFit/>
          </a:bodyPr>
          <a:lstStyle/>
          <a:p>
            <a:pPr algn="ctr">
              <a:lnSpc>
                <a:spcPts val="4340"/>
              </a:lnSpc>
            </a:pPr>
            <a:r>
              <a:rPr lang="en-US" sz="3100">
                <a:solidFill>
                  <a:srgbClr val="000000"/>
                </a:solidFill>
                <a:latin typeface="Canva Sans"/>
                <a:ea typeface="Canva Sans"/>
                <a:cs typeface="Canva Sans"/>
                <a:sym typeface="Canva Sans"/>
              </a:rPr>
              <a:t>Msc.,Mphil.,ph.D</a:t>
            </a:r>
          </a:p>
          <a:p>
            <a:pPr algn="ctr">
              <a:lnSpc>
                <a:spcPts val="4340"/>
              </a:lnSpc>
            </a:pPr>
            <a:endParaRPr lang="en-US" sz="3100">
              <a:solidFill>
                <a:srgbClr val="000000"/>
              </a:solidFill>
              <a:latin typeface="Canva Sans"/>
              <a:ea typeface="Canva Sans"/>
              <a:cs typeface="Canva Sans"/>
              <a:sym typeface="Canva Sans"/>
            </a:endParaRPr>
          </a:p>
        </p:txBody>
      </p:sp>
      <p:sp>
        <p:nvSpPr>
          <p:cNvPr id="11" name="TextBox 11"/>
          <p:cNvSpPr txBox="1"/>
          <p:nvPr/>
        </p:nvSpPr>
        <p:spPr>
          <a:xfrm>
            <a:off x="355316" y="6769555"/>
            <a:ext cx="4095948" cy="696868"/>
          </a:xfrm>
          <a:prstGeom prst="rect">
            <a:avLst/>
          </a:prstGeom>
        </p:spPr>
        <p:txBody>
          <a:bodyPr wrap="square" lIns="0" tIns="0" rIns="0" bIns="0" rtlCol="0" anchor="t">
            <a:spAutoFit/>
          </a:bodyPr>
          <a:lstStyle/>
          <a:p>
            <a:pPr algn="ctr">
              <a:lnSpc>
                <a:spcPts val="5618"/>
              </a:lnSpc>
            </a:pPr>
            <a:r>
              <a:rPr lang="en-US" sz="4013" dirty="0">
                <a:solidFill>
                  <a:srgbClr val="000000"/>
                </a:solidFill>
                <a:latin typeface="Canva Sans"/>
                <a:ea typeface="Canva Sans"/>
                <a:cs typeface="Canva Sans"/>
                <a:sym typeface="Canva Sans"/>
              </a:rPr>
              <a:t>Work done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12698616" y="8946515"/>
            <a:ext cx="4560684" cy="311785"/>
          </a:xfrm>
          <a:prstGeom prst="rect">
            <a:avLst/>
          </a:prstGeom>
        </p:spPr>
        <p:txBody>
          <a:bodyPr lIns="0" tIns="0" rIns="0" bIns="0" rtlCol="0" anchor="t">
            <a:spAutoFit/>
          </a:bodyPr>
          <a:lstStyle/>
          <a:p>
            <a:pPr algn="r">
              <a:lnSpc>
                <a:spcPts val="2238"/>
              </a:lnSpc>
            </a:pPr>
            <a:r>
              <a:rPr lang="en-US" sz="1599">
                <a:solidFill>
                  <a:srgbClr val="331B0D"/>
                </a:solidFill>
                <a:latin typeface="Open Sauce"/>
                <a:ea typeface="Open Sauce"/>
                <a:cs typeface="Open Sauce"/>
                <a:sym typeface="Open Sauce"/>
              </a:rPr>
              <a:t>2</a:t>
            </a:r>
          </a:p>
        </p:txBody>
      </p:sp>
      <p:sp>
        <p:nvSpPr>
          <p:cNvPr id="3" name="TextBox 3"/>
          <p:cNvSpPr txBox="1"/>
          <p:nvPr/>
        </p:nvSpPr>
        <p:spPr>
          <a:xfrm>
            <a:off x="1028700" y="2029460"/>
            <a:ext cx="16230600" cy="5860835"/>
          </a:xfrm>
          <a:prstGeom prst="rect">
            <a:avLst/>
          </a:prstGeom>
        </p:spPr>
        <p:txBody>
          <a:bodyPr lIns="0" tIns="0" rIns="0" bIns="0" rtlCol="0" anchor="t">
            <a:spAutoFit/>
          </a:bodyPr>
          <a:lstStyle/>
          <a:p>
            <a:pPr algn="just">
              <a:lnSpc>
                <a:spcPts val="4620"/>
              </a:lnSpc>
            </a:pPr>
            <a:r>
              <a:rPr lang="en-US" sz="3300" dirty="0">
                <a:solidFill>
                  <a:srgbClr val="331B0D"/>
                </a:solidFill>
                <a:latin typeface="Canva Sans"/>
                <a:ea typeface="Canva Sans"/>
                <a:cs typeface="Canva Sans"/>
                <a:sym typeface="Canva Sans"/>
              </a:rPr>
              <a:t>This project focuses on the design and development of a corporate website for Vijay Industries, a company engaged in the reselling of electrical transformers. The main goal of this project is to provide the company with a strong digital presence and to simplify the way customers interact with the business. In the traditional system, customers faced difficulties in accessing product information and sending inquiries, which caused delays in communication and sales processes.</a:t>
            </a:r>
          </a:p>
          <a:p>
            <a:pPr algn="just">
              <a:lnSpc>
                <a:spcPts val="4620"/>
              </a:lnSpc>
            </a:pPr>
            <a:r>
              <a:rPr lang="en-US" sz="3300" dirty="0">
                <a:solidFill>
                  <a:srgbClr val="331B0D"/>
                </a:solidFill>
                <a:latin typeface="Canva Sans"/>
                <a:ea typeface="Canva Sans"/>
                <a:cs typeface="Canva Sans"/>
                <a:sym typeface="Canva Sans"/>
              </a:rPr>
              <a:t>The website is designed to offer an interactive and user-friendly platform where customers can easily browse transformer products, view detailed specifications, compare different models, and request quotations online. </a:t>
            </a:r>
          </a:p>
        </p:txBody>
      </p:sp>
      <p:sp>
        <p:nvSpPr>
          <p:cNvPr id="4" name="Freeform 4"/>
          <p:cNvSpPr/>
          <p:nvPr/>
        </p:nvSpPr>
        <p:spPr>
          <a:xfrm>
            <a:off x="494772" y="294170"/>
            <a:ext cx="1335059" cy="1335059"/>
          </a:xfrm>
          <a:custGeom>
            <a:avLst/>
            <a:gdLst/>
            <a:ahLst/>
            <a:cxnLst/>
            <a:rect l="l" t="t" r="r" b="b"/>
            <a:pathLst>
              <a:path w="1335059" h="1335059">
                <a:moveTo>
                  <a:pt x="0" y="0"/>
                </a:moveTo>
                <a:lnTo>
                  <a:pt x="1335059" y="0"/>
                </a:lnTo>
                <a:lnTo>
                  <a:pt x="1335059" y="1335059"/>
                </a:lnTo>
                <a:lnTo>
                  <a:pt x="0" y="1335059"/>
                </a:lnTo>
                <a:lnTo>
                  <a:pt x="0" y="0"/>
                </a:lnTo>
                <a:close/>
              </a:path>
            </a:pathLst>
          </a:custGeom>
          <a:blipFill>
            <a:blip r:embed="rId2"/>
            <a:stretch>
              <a:fillRect/>
            </a:stretch>
          </a:blipFill>
        </p:spPr>
      </p:sp>
      <p:sp>
        <p:nvSpPr>
          <p:cNvPr id="5" name="TextBox 5"/>
          <p:cNvSpPr txBox="1"/>
          <p:nvPr/>
        </p:nvSpPr>
        <p:spPr>
          <a:xfrm>
            <a:off x="6485057" y="693115"/>
            <a:ext cx="5317887" cy="775945"/>
          </a:xfrm>
          <a:prstGeom prst="rect">
            <a:avLst/>
          </a:prstGeom>
        </p:spPr>
        <p:txBody>
          <a:bodyPr lIns="0" tIns="0" rIns="0" bIns="0" rtlCol="0" anchor="t">
            <a:spAutoFit/>
          </a:bodyPr>
          <a:lstStyle/>
          <a:p>
            <a:pPr algn="l">
              <a:lnSpc>
                <a:spcPts val="5799"/>
              </a:lnSpc>
            </a:pPr>
            <a:r>
              <a:rPr lang="en-US" sz="5798" b="1" spc="-346">
                <a:solidFill>
                  <a:srgbClr val="331B0D"/>
                </a:solidFill>
                <a:latin typeface="Open Sauce Bold"/>
                <a:ea typeface="Open Sauce Bold"/>
                <a:cs typeface="Open Sauce Bold"/>
                <a:sym typeface="Open Sauce Bold"/>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12698616" y="8946515"/>
            <a:ext cx="4560684" cy="311785"/>
          </a:xfrm>
          <a:prstGeom prst="rect">
            <a:avLst/>
          </a:prstGeom>
        </p:spPr>
        <p:txBody>
          <a:bodyPr lIns="0" tIns="0" rIns="0" bIns="0" rtlCol="0" anchor="t">
            <a:spAutoFit/>
          </a:bodyPr>
          <a:lstStyle/>
          <a:p>
            <a:pPr algn="r">
              <a:lnSpc>
                <a:spcPts val="2238"/>
              </a:lnSpc>
            </a:pPr>
            <a:r>
              <a:rPr lang="en-US" sz="1599">
                <a:solidFill>
                  <a:srgbClr val="331B0D"/>
                </a:solidFill>
                <a:latin typeface="Open Sauce"/>
                <a:ea typeface="Open Sauce"/>
                <a:cs typeface="Open Sauce"/>
                <a:sym typeface="Open Sauce"/>
              </a:rPr>
              <a:t>2</a:t>
            </a:r>
          </a:p>
        </p:txBody>
      </p:sp>
      <p:sp>
        <p:nvSpPr>
          <p:cNvPr id="3" name="TextBox 3"/>
          <p:cNvSpPr txBox="1"/>
          <p:nvPr/>
        </p:nvSpPr>
        <p:spPr>
          <a:xfrm>
            <a:off x="1028700" y="1622902"/>
            <a:ext cx="16230600" cy="8183879"/>
          </a:xfrm>
          <a:prstGeom prst="rect">
            <a:avLst/>
          </a:prstGeom>
        </p:spPr>
        <p:txBody>
          <a:bodyPr lIns="0" tIns="0" rIns="0" bIns="0" rtlCol="0" anchor="t">
            <a:spAutoFit/>
          </a:bodyPr>
          <a:lstStyle/>
          <a:p>
            <a:pPr algn="just">
              <a:lnSpc>
                <a:spcPts val="4620"/>
              </a:lnSpc>
            </a:pPr>
            <a:r>
              <a:rPr lang="en-US" sz="3300">
                <a:solidFill>
                  <a:srgbClr val="331B0D"/>
                </a:solidFill>
                <a:latin typeface="Canva Sans"/>
                <a:ea typeface="Canva Sans"/>
                <a:cs typeface="Canva Sans"/>
                <a:sym typeface="Canva Sans"/>
              </a:rPr>
              <a:t>This project presents the design and development of a dynamic web platform for Vijay Industries, a company specializing in the reselling of electrical transformers. The website aims to streamline product visibility, customer engagement, and sales operations by providing an intuitive and user-friendly interface. Key features include a comprehensive product catalog, detailed transformer specifications, inquiry and quotation modules, and an efficient content management system for easy updates. The platform enhances the company’s digital presence, allowing customers to conveniently browse available transformer models, compare specifications, and request quotations online. By integrating modern web technologies and responsive design principles, the website ensures accessibility across devices and improves overall customer experience. This project ultimately supports Vijay Industries in expanding its market reach, optimizing communication, and strengthening its position within the transformer reselling sector..</a:t>
            </a:r>
          </a:p>
        </p:txBody>
      </p:sp>
      <p:sp>
        <p:nvSpPr>
          <p:cNvPr id="4" name="Freeform 4"/>
          <p:cNvSpPr/>
          <p:nvPr/>
        </p:nvSpPr>
        <p:spPr>
          <a:xfrm>
            <a:off x="361170" y="134013"/>
            <a:ext cx="1335059" cy="1335059"/>
          </a:xfrm>
          <a:custGeom>
            <a:avLst/>
            <a:gdLst/>
            <a:ahLst/>
            <a:cxnLst/>
            <a:rect l="l" t="t" r="r" b="b"/>
            <a:pathLst>
              <a:path w="1335059" h="1335059">
                <a:moveTo>
                  <a:pt x="0" y="0"/>
                </a:moveTo>
                <a:lnTo>
                  <a:pt x="1335060" y="0"/>
                </a:lnTo>
                <a:lnTo>
                  <a:pt x="1335060" y="1335059"/>
                </a:lnTo>
                <a:lnTo>
                  <a:pt x="0" y="1335059"/>
                </a:lnTo>
                <a:lnTo>
                  <a:pt x="0" y="0"/>
                </a:lnTo>
                <a:close/>
              </a:path>
            </a:pathLst>
          </a:custGeom>
          <a:blipFill>
            <a:blip r:embed="rId2"/>
            <a:stretch>
              <a:fillRect/>
            </a:stretch>
          </a:blipFill>
        </p:spPr>
      </p:sp>
      <p:sp>
        <p:nvSpPr>
          <p:cNvPr id="5" name="TextBox 5"/>
          <p:cNvSpPr txBox="1"/>
          <p:nvPr/>
        </p:nvSpPr>
        <p:spPr>
          <a:xfrm>
            <a:off x="7591132" y="797878"/>
            <a:ext cx="3105736" cy="671194"/>
          </a:xfrm>
          <a:prstGeom prst="rect">
            <a:avLst/>
          </a:prstGeom>
        </p:spPr>
        <p:txBody>
          <a:bodyPr lIns="0" tIns="0" rIns="0" bIns="0" rtlCol="0" anchor="t">
            <a:spAutoFit/>
          </a:bodyPr>
          <a:lstStyle/>
          <a:p>
            <a:pPr algn="l">
              <a:lnSpc>
                <a:spcPts val="5799"/>
              </a:lnSpc>
            </a:pPr>
            <a:r>
              <a:rPr lang="en-US" sz="5798" u="sng" spc="-346">
                <a:solidFill>
                  <a:srgbClr val="331B0D"/>
                </a:solidFill>
                <a:latin typeface="Open Sauce"/>
                <a:ea typeface="Open Sauce"/>
                <a:cs typeface="Open Sauce"/>
                <a:sym typeface="Open Sauce"/>
              </a:rPr>
              <a:t>Abstract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Freeform 2"/>
          <p:cNvSpPr/>
          <p:nvPr/>
        </p:nvSpPr>
        <p:spPr>
          <a:xfrm>
            <a:off x="361170" y="361170"/>
            <a:ext cx="1335059" cy="1335059"/>
          </a:xfrm>
          <a:custGeom>
            <a:avLst/>
            <a:gdLst/>
            <a:ahLst/>
            <a:cxnLst/>
            <a:rect l="l" t="t" r="r" b="b"/>
            <a:pathLst>
              <a:path w="1335059" h="1335059">
                <a:moveTo>
                  <a:pt x="0" y="0"/>
                </a:moveTo>
                <a:lnTo>
                  <a:pt x="1335060" y="0"/>
                </a:lnTo>
                <a:lnTo>
                  <a:pt x="1335060" y="1335060"/>
                </a:lnTo>
                <a:lnTo>
                  <a:pt x="0" y="1335060"/>
                </a:lnTo>
                <a:lnTo>
                  <a:pt x="0" y="0"/>
                </a:lnTo>
                <a:close/>
              </a:path>
            </a:pathLst>
          </a:custGeom>
          <a:blipFill>
            <a:blip r:embed="rId2"/>
            <a:stretch>
              <a:fillRect/>
            </a:stretch>
          </a:blipFill>
        </p:spPr>
      </p:sp>
      <p:sp>
        <p:nvSpPr>
          <p:cNvPr id="3" name="TextBox 3"/>
          <p:cNvSpPr txBox="1"/>
          <p:nvPr/>
        </p:nvSpPr>
        <p:spPr>
          <a:xfrm>
            <a:off x="1420394" y="1723100"/>
            <a:ext cx="5295111" cy="1694815"/>
          </a:xfrm>
          <a:prstGeom prst="rect">
            <a:avLst/>
          </a:prstGeom>
        </p:spPr>
        <p:txBody>
          <a:bodyPr lIns="0" tIns="0" rIns="0" bIns="0" rtlCol="0" anchor="t">
            <a:spAutoFit/>
          </a:bodyPr>
          <a:lstStyle/>
          <a:p>
            <a:pPr algn="ctr">
              <a:lnSpc>
                <a:spcPts val="6860"/>
              </a:lnSpc>
            </a:pPr>
            <a:r>
              <a:rPr lang="en-US" sz="4900" b="1">
                <a:solidFill>
                  <a:srgbClr val="331B0D"/>
                </a:solidFill>
                <a:latin typeface="Canva Sans Bold"/>
                <a:ea typeface="Canva Sans Bold"/>
                <a:cs typeface="Canva Sans Bold"/>
                <a:sym typeface="Canva Sans Bold"/>
              </a:rPr>
              <a:t>Existing system</a:t>
            </a:r>
          </a:p>
          <a:p>
            <a:pPr algn="ctr">
              <a:lnSpc>
                <a:spcPts val="6860"/>
              </a:lnSpc>
            </a:pPr>
            <a:endParaRPr lang="en-US" sz="4900" b="1">
              <a:solidFill>
                <a:srgbClr val="331B0D"/>
              </a:solidFill>
              <a:latin typeface="Canva Sans Bold"/>
              <a:ea typeface="Canva Sans Bold"/>
              <a:cs typeface="Canva Sans Bold"/>
              <a:sym typeface="Canva Sans Bold"/>
            </a:endParaRPr>
          </a:p>
        </p:txBody>
      </p:sp>
      <p:sp>
        <p:nvSpPr>
          <p:cNvPr id="4" name="TextBox 4"/>
          <p:cNvSpPr txBox="1"/>
          <p:nvPr/>
        </p:nvSpPr>
        <p:spPr>
          <a:xfrm>
            <a:off x="1028700" y="3024511"/>
            <a:ext cx="16706044" cy="1810995"/>
          </a:xfrm>
          <a:prstGeom prst="rect">
            <a:avLst/>
          </a:prstGeom>
        </p:spPr>
        <p:txBody>
          <a:bodyPr lIns="0" tIns="0" rIns="0" bIns="0" rtlCol="0" anchor="t">
            <a:spAutoFit/>
          </a:bodyPr>
          <a:lstStyle/>
          <a:p>
            <a:pPr marL="1188598" lvl="2" indent="-396199" algn="l">
              <a:lnSpc>
                <a:spcPts val="7278"/>
              </a:lnSpc>
              <a:buFont typeface="Arial"/>
              <a:buChar char="⚬"/>
            </a:pPr>
            <a:r>
              <a:rPr lang="en-US" sz="5198">
                <a:solidFill>
                  <a:srgbClr val="331B0D"/>
                </a:solidFill>
                <a:latin typeface="Canva Sans"/>
                <a:ea typeface="Canva Sans"/>
                <a:cs typeface="Canva Sans"/>
                <a:sym typeface="Canva Sans"/>
              </a:rPr>
              <a:t>The clients can’t reach easily and the response time is delaying</a:t>
            </a:r>
          </a:p>
        </p:txBody>
      </p:sp>
      <p:sp>
        <p:nvSpPr>
          <p:cNvPr id="5" name="TextBox 5"/>
          <p:cNvSpPr txBox="1"/>
          <p:nvPr/>
        </p:nvSpPr>
        <p:spPr>
          <a:xfrm>
            <a:off x="1028700" y="5090264"/>
            <a:ext cx="16706044" cy="1810367"/>
          </a:xfrm>
          <a:prstGeom prst="rect">
            <a:avLst/>
          </a:prstGeom>
        </p:spPr>
        <p:txBody>
          <a:bodyPr lIns="0" tIns="0" rIns="0" bIns="0" rtlCol="0" anchor="t">
            <a:spAutoFit/>
          </a:bodyPr>
          <a:lstStyle/>
          <a:p>
            <a:pPr marL="1188598" lvl="2" indent="-396199" algn="just">
              <a:lnSpc>
                <a:spcPts val="7278"/>
              </a:lnSpc>
              <a:buFont typeface="Arial"/>
              <a:buChar char="⚬"/>
            </a:pPr>
            <a:r>
              <a:rPr lang="en-US" sz="5198" dirty="0">
                <a:solidFill>
                  <a:srgbClr val="331B0D"/>
                </a:solidFill>
                <a:latin typeface="Canva Sans"/>
                <a:ea typeface="Canva Sans"/>
                <a:cs typeface="Canva Sans"/>
                <a:sym typeface="Canva Sans"/>
              </a:rPr>
              <a:t>The company has to show the catalogue to everyone personally it’s a time delaying process</a:t>
            </a:r>
          </a:p>
        </p:txBody>
      </p:sp>
      <p:sp>
        <p:nvSpPr>
          <p:cNvPr id="6" name="TextBox 6"/>
          <p:cNvSpPr txBox="1"/>
          <p:nvPr/>
        </p:nvSpPr>
        <p:spPr>
          <a:xfrm>
            <a:off x="1028700" y="7158459"/>
            <a:ext cx="16706044" cy="982345"/>
          </a:xfrm>
          <a:prstGeom prst="rect">
            <a:avLst/>
          </a:prstGeom>
        </p:spPr>
        <p:txBody>
          <a:bodyPr lIns="0" tIns="0" rIns="0" bIns="0" rtlCol="0" anchor="t">
            <a:spAutoFit/>
          </a:bodyPr>
          <a:lstStyle/>
          <a:p>
            <a:pPr marL="1188598" lvl="2" indent="-396199" algn="l">
              <a:lnSpc>
                <a:spcPts val="7278"/>
              </a:lnSpc>
              <a:buFont typeface="Arial"/>
              <a:buChar char="⚬"/>
            </a:pPr>
            <a:r>
              <a:rPr lang="en-US" sz="5198">
                <a:solidFill>
                  <a:srgbClr val="331B0D"/>
                </a:solidFill>
                <a:latin typeface="Canva Sans"/>
                <a:ea typeface="Canva Sans"/>
                <a:cs typeface="Canva Sans"/>
                <a:sym typeface="Canva Sans"/>
              </a:rPr>
              <a:t>The quotation models are not efficient to send.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278357"/>
            <a:ext cx="18288000" cy="8095150"/>
          </a:xfrm>
          <a:custGeom>
            <a:avLst/>
            <a:gdLst/>
            <a:ahLst/>
            <a:cxnLst/>
            <a:rect l="l" t="t" r="r" b="b"/>
            <a:pathLst>
              <a:path w="18288000" h="8095150">
                <a:moveTo>
                  <a:pt x="0" y="0"/>
                </a:moveTo>
                <a:lnTo>
                  <a:pt x="18288000" y="0"/>
                </a:lnTo>
                <a:lnTo>
                  <a:pt x="18288000" y="8095150"/>
                </a:lnTo>
                <a:lnTo>
                  <a:pt x="0" y="8095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1170" y="187353"/>
            <a:ext cx="1335059" cy="1335059"/>
          </a:xfrm>
          <a:custGeom>
            <a:avLst/>
            <a:gdLst/>
            <a:ahLst/>
            <a:cxnLst/>
            <a:rect l="l" t="t" r="r" b="b"/>
            <a:pathLst>
              <a:path w="1335059" h="1335059">
                <a:moveTo>
                  <a:pt x="0" y="0"/>
                </a:moveTo>
                <a:lnTo>
                  <a:pt x="1335060" y="0"/>
                </a:lnTo>
                <a:lnTo>
                  <a:pt x="1335060" y="1335060"/>
                </a:lnTo>
                <a:lnTo>
                  <a:pt x="0" y="1335060"/>
                </a:lnTo>
                <a:lnTo>
                  <a:pt x="0" y="0"/>
                </a:lnTo>
                <a:close/>
              </a:path>
            </a:pathLst>
          </a:custGeom>
          <a:blipFill>
            <a:blip r:embed="rId4"/>
            <a:stretch>
              <a:fillRect/>
            </a:stretch>
          </a:blipFill>
        </p:spPr>
      </p:sp>
      <p:sp>
        <p:nvSpPr>
          <p:cNvPr id="4" name="TextBox 4"/>
          <p:cNvSpPr txBox="1"/>
          <p:nvPr/>
        </p:nvSpPr>
        <p:spPr>
          <a:xfrm>
            <a:off x="5025222" y="904875"/>
            <a:ext cx="8237555" cy="1111250"/>
          </a:xfrm>
          <a:prstGeom prst="rect">
            <a:avLst/>
          </a:prstGeom>
        </p:spPr>
        <p:txBody>
          <a:bodyPr lIns="0" tIns="0" rIns="0" bIns="0" rtlCol="0" anchor="t">
            <a:spAutoFit/>
          </a:bodyPr>
          <a:lstStyle/>
          <a:p>
            <a:pPr algn="ctr">
              <a:lnSpc>
                <a:spcPts val="9100"/>
              </a:lnSpc>
            </a:pPr>
            <a:r>
              <a:rPr lang="en-US" sz="6500" b="1">
                <a:solidFill>
                  <a:srgbClr val="000000"/>
                </a:solidFill>
                <a:latin typeface="Canva Sans Bold"/>
                <a:ea typeface="Canva Sans Bold"/>
                <a:cs typeface="Canva Sans Bold"/>
                <a:sym typeface="Canva Sans Bold"/>
              </a:rPr>
              <a:t>Proposed solution</a:t>
            </a:r>
          </a:p>
        </p:txBody>
      </p:sp>
      <p:sp>
        <p:nvSpPr>
          <p:cNvPr id="5" name="TextBox 5"/>
          <p:cNvSpPr txBox="1"/>
          <p:nvPr/>
        </p:nvSpPr>
        <p:spPr>
          <a:xfrm>
            <a:off x="514350" y="2861904"/>
            <a:ext cx="17392650" cy="2068771"/>
          </a:xfrm>
          <a:prstGeom prst="rect">
            <a:avLst/>
          </a:prstGeom>
        </p:spPr>
        <p:txBody>
          <a:bodyPr wrap="square" lIns="0" tIns="0" rIns="0" bIns="0" rtlCol="0" anchor="t">
            <a:spAutoFit/>
          </a:bodyPr>
          <a:lstStyle/>
          <a:p>
            <a:pPr marL="891543" lvl="2" indent="-297181" algn="just">
              <a:lnSpc>
                <a:spcPts val="5459"/>
              </a:lnSpc>
              <a:buFont typeface="Arial"/>
              <a:buChar char="⚬"/>
            </a:pPr>
            <a:r>
              <a:rPr lang="en-US" sz="3900" dirty="0">
                <a:solidFill>
                  <a:srgbClr val="000000"/>
                </a:solidFill>
                <a:latin typeface="Canva Sans"/>
                <a:ea typeface="Canva Sans"/>
                <a:cs typeface="Canva Sans"/>
                <a:sym typeface="Canva Sans"/>
              </a:rPr>
              <a:t>The website aims to streamline product visibility, customer engagement, and sales operations by providing an intuitive and user-friendly interface. </a:t>
            </a:r>
          </a:p>
        </p:txBody>
      </p:sp>
      <p:sp>
        <p:nvSpPr>
          <p:cNvPr id="6" name="TextBox 6"/>
          <p:cNvSpPr txBox="1"/>
          <p:nvPr/>
        </p:nvSpPr>
        <p:spPr>
          <a:xfrm>
            <a:off x="514350" y="5202949"/>
            <a:ext cx="16230600" cy="2110739"/>
          </a:xfrm>
          <a:prstGeom prst="rect">
            <a:avLst/>
          </a:prstGeom>
        </p:spPr>
        <p:txBody>
          <a:bodyPr lIns="0" tIns="0" rIns="0" bIns="0" rtlCol="0" anchor="t">
            <a:spAutoFit/>
          </a:bodyPr>
          <a:lstStyle/>
          <a:p>
            <a:pPr marL="891543" lvl="2" indent="-297181" algn="just">
              <a:lnSpc>
                <a:spcPts val="5459"/>
              </a:lnSpc>
              <a:buFont typeface="Arial"/>
              <a:buChar char="⚬"/>
            </a:pPr>
            <a:r>
              <a:rPr lang="en-US" sz="3900" dirty="0">
                <a:solidFill>
                  <a:srgbClr val="000000"/>
                </a:solidFill>
                <a:latin typeface="Canva Sans"/>
                <a:ea typeface="Canva Sans"/>
                <a:cs typeface="Canva Sans"/>
                <a:sym typeface="Canva Sans"/>
              </a:rPr>
              <a:t>Key features include a comprehensive product catalog, detailed transformer specifications, inquiry and quotation modules, and an efficient content management system for easy updates.</a:t>
            </a:r>
          </a:p>
        </p:txBody>
      </p:sp>
      <p:sp>
        <p:nvSpPr>
          <p:cNvPr id="7" name="TextBox 7"/>
          <p:cNvSpPr txBox="1"/>
          <p:nvPr/>
        </p:nvSpPr>
        <p:spPr>
          <a:xfrm>
            <a:off x="514350" y="7542288"/>
            <a:ext cx="17392650" cy="1363450"/>
          </a:xfrm>
          <a:prstGeom prst="rect">
            <a:avLst/>
          </a:prstGeom>
        </p:spPr>
        <p:txBody>
          <a:bodyPr wrap="square" lIns="0" tIns="0" rIns="0" bIns="0" rtlCol="0" anchor="t">
            <a:spAutoFit/>
          </a:bodyPr>
          <a:lstStyle/>
          <a:p>
            <a:pPr marL="891543" lvl="2" indent="-297181" algn="just">
              <a:lnSpc>
                <a:spcPts val="5459"/>
              </a:lnSpc>
              <a:buFont typeface="Arial"/>
              <a:buChar char="⚬"/>
            </a:pPr>
            <a:r>
              <a:rPr lang="en-US" sz="3900" dirty="0">
                <a:solidFill>
                  <a:srgbClr val="000000"/>
                </a:solidFill>
                <a:latin typeface="Canva Sans"/>
                <a:ea typeface="Canva Sans"/>
                <a:cs typeface="Canva Sans"/>
                <a:sym typeface="Canva Sans"/>
              </a:rPr>
              <a:t>And conveniently browse available transformer models, compare specifications, and request quotations online.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7688" y="2771714"/>
            <a:ext cx="18288000" cy="5310505"/>
          </a:xfrm>
          <a:prstGeom prst="rect">
            <a:avLst/>
          </a:prstGeom>
        </p:spPr>
        <p:txBody>
          <a:bodyPr lIns="0" tIns="0" rIns="0" bIns="0" rtlCol="0" anchor="t">
            <a:spAutoFit/>
          </a:bodyPr>
          <a:lstStyle/>
          <a:p>
            <a:pPr marL="655321" lvl="2" algn="just">
              <a:lnSpc>
                <a:spcPts val="6020"/>
              </a:lnSpc>
            </a:pPr>
            <a:endParaRPr lang="en-US" sz="4300" dirty="0">
              <a:solidFill>
                <a:srgbClr val="000000"/>
              </a:solidFill>
              <a:latin typeface="Canva Sans"/>
              <a:ea typeface="Canva Sans"/>
              <a:cs typeface="Canva Sans"/>
              <a:sym typeface="Canva Sans"/>
            </a:endParaRPr>
          </a:p>
          <a:p>
            <a:pPr marL="982982" lvl="2" indent="-327661" algn="just">
              <a:lnSpc>
                <a:spcPts val="6020"/>
              </a:lnSpc>
              <a:buFont typeface="Arial"/>
              <a:buChar char="⚬"/>
            </a:pPr>
            <a:r>
              <a:rPr lang="en-US" sz="4300" dirty="0">
                <a:solidFill>
                  <a:srgbClr val="000000"/>
                </a:solidFill>
                <a:latin typeface="Canva Sans"/>
                <a:ea typeface="Canva Sans"/>
                <a:cs typeface="Canva Sans"/>
                <a:sym typeface="Canva Sans"/>
              </a:rPr>
              <a:t>Processor              :Intel i5-1335U 13th Gen(R) Core(TM)  </a:t>
            </a:r>
          </a:p>
          <a:p>
            <a:pPr marL="982982" lvl="2" indent="-327661" algn="just">
              <a:lnSpc>
                <a:spcPts val="6020"/>
              </a:lnSpc>
              <a:buFont typeface="Arial"/>
              <a:buChar char="⚬"/>
            </a:pPr>
            <a:r>
              <a:rPr lang="en-US" sz="4300" dirty="0">
                <a:solidFill>
                  <a:srgbClr val="000000"/>
                </a:solidFill>
                <a:latin typeface="Canva Sans"/>
                <a:ea typeface="Canva Sans"/>
                <a:cs typeface="Canva Sans"/>
                <a:sym typeface="Canva Sans"/>
              </a:rPr>
              <a:t>RAM                        : 16.0 GB (DDR5)</a:t>
            </a:r>
          </a:p>
          <a:p>
            <a:pPr marL="982982" lvl="2" indent="-327661" algn="just">
              <a:lnSpc>
                <a:spcPts val="6020"/>
              </a:lnSpc>
              <a:buFont typeface="Arial"/>
              <a:buChar char="⚬"/>
            </a:pPr>
            <a:r>
              <a:rPr lang="en-US" sz="4300" dirty="0">
                <a:solidFill>
                  <a:srgbClr val="000000"/>
                </a:solidFill>
                <a:latin typeface="Canva Sans"/>
                <a:ea typeface="Canva Sans"/>
                <a:cs typeface="Canva Sans"/>
                <a:sym typeface="Canva Sans"/>
              </a:rPr>
              <a:t>Storage                  : 512 GB (</a:t>
            </a:r>
            <a:r>
              <a:rPr lang="en-US" sz="4300" dirty="0" err="1">
                <a:solidFill>
                  <a:srgbClr val="000000"/>
                </a:solidFill>
                <a:latin typeface="Canva Sans"/>
                <a:ea typeface="Canva Sans"/>
                <a:cs typeface="Canva Sans"/>
                <a:sym typeface="Canva Sans"/>
              </a:rPr>
              <a:t>ssd</a:t>
            </a:r>
            <a:r>
              <a:rPr lang="en-US" sz="4300" dirty="0">
                <a:solidFill>
                  <a:srgbClr val="000000"/>
                </a:solidFill>
                <a:latin typeface="Canva Sans"/>
                <a:ea typeface="Canva Sans"/>
                <a:cs typeface="Canva Sans"/>
                <a:sym typeface="Canva Sans"/>
              </a:rPr>
              <a:t>)</a:t>
            </a:r>
          </a:p>
          <a:p>
            <a:pPr marL="928370" lvl="2" indent="-309457" algn="just">
              <a:lnSpc>
                <a:spcPts val="6020"/>
              </a:lnSpc>
              <a:buFont typeface="Arial"/>
              <a:buChar char="⚬"/>
            </a:pPr>
            <a:r>
              <a:rPr lang="en-US" sz="4300" dirty="0">
                <a:solidFill>
                  <a:srgbClr val="000000"/>
                </a:solidFill>
                <a:latin typeface="Canva Sans"/>
                <a:ea typeface="Canva Sans"/>
                <a:cs typeface="Canva Sans"/>
                <a:sym typeface="Canva Sans"/>
              </a:rPr>
              <a:t>System                   : Windows 11 OS</a:t>
            </a:r>
          </a:p>
          <a:p>
            <a:pPr marL="982982" lvl="2" indent="-327661" algn="just">
              <a:lnSpc>
                <a:spcPts val="6020"/>
              </a:lnSpc>
            </a:pPr>
            <a:endParaRPr lang="en-US" sz="4300" dirty="0">
              <a:solidFill>
                <a:srgbClr val="000000"/>
              </a:solidFill>
              <a:latin typeface="Canva Sans"/>
              <a:ea typeface="Canva Sans"/>
              <a:cs typeface="Canva Sans"/>
              <a:sym typeface="Canva Sans"/>
            </a:endParaRPr>
          </a:p>
          <a:p>
            <a:pPr marL="982982" lvl="2" indent="-327661" algn="just">
              <a:lnSpc>
                <a:spcPts val="6020"/>
              </a:lnSpc>
            </a:pPr>
            <a:endParaRPr lang="en-US" sz="4300" dirty="0">
              <a:solidFill>
                <a:srgbClr val="000000"/>
              </a:solidFill>
              <a:latin typeface="Canva Sans"/>
              <a:ea typeface="Canva Sans"/>
              <a:cs typeface="Canva Sans"/>
              <a:sym typeface="Canva Sans"/>
            </a:endParaRPr>
          </a:p>
        </p:txBody>
      </p:sp>
      <p:sp>
        <p:nvSpPr>
          <p:cNvPr id="3" name="Freeform 3"/>
          <p:cNvSpPr/>
          <p:nvPr/>
        </p:nvSpPr>
        <p:spPr>
          <a:xfrm>
            <a:off x="127198" y="164924"/>
            <a:ext cx="1335059" cy="1335059"/>
          </a:xfrm>
          <a:custGeom>
            <a:avLst/>
            <a:gdLst/>
            <a:ahLst/>
            <a:cxnLst/>
            <a:rect l="l" t="t" r="r" b="b"/>
            <a:pathLst>
              <a:path w="1335059" h="1335059">
                <a:moveTo>
                  <a:pt x="0" y="0"/>
                </a:moveTo>
                <a:lnTo>
                  <a:pt x="1335059" y="0"/>
                </a:lnTo>
                <a:lnTo>
                  <a:pt x="1335059" y="1335059"/>
                </a:lnTo>
                <a:lnTo>
                  <a:pt x="0" y="1335059"/>
                </a:lnTo>
                <a:lnTo>
                  <a:pt x="0" y="0"/>
                </a:lnTo>
                <a:close/>
              </a:path>
            </a:pathLst>
          </a:custGeom>
          <a:blipFill>
            <a:blip r:embed="rId2"/>
            <a:stretch>
              <a:fillRect/>
            </a:stretch>
          </a:blipFill>
        </p:spPr>
      </p:sp>
      <p:sp>
        <p:nvSpPr>
          <p:cNvPr id="4" name="TextBox 4"/>
          <p:cNvSpPr txBox="1"/>
          <p:nvPr/>
        </p:nvSpPr>
        <p:spPr>
          <a:xfrm>
            <a:off x="12698616" y="8946515"/>
            <a:ext cx="4560684" cy="311785"/>
          </a:xfrm>
          <a:prstGeom prst="rect">
            <a:avLst/>
          </a:prstGeom>
        </p:spPr>
        <p:txBody>
          <a:bodyPr lIns="0" tIns="0" rIns="0" bIns="0" rtlCol="0" anchor="t">
            <a:spAutoFit/>
          </a:bodyPr>
          <a:lstStyle/>
          <a:p>
            <a:pPr algn="r">
              <a:lnSpc>
                <a:spcPts val="2238"/>
              </a:lnSpc>
            </a:pPr>
            <a:r>
              <a:rPr lang="en-US" sz="1599">
                <a:solidFill>
                  <a:srgbClr val="FFFFFF"/>
                </a:solidFill>
                <a:latin typeface="Open Sauce"/>
                <a:ea typeface="Open Sauce"/>
                <a:cs typeface="Open Sauce"/>
                <a:sym typeface="Open Sauce"/>
              </a:rPr>
              <a:t>5</a:t>
            </a:r>
          </a:p>
        </p:txBody>
      </p:sp>
      <p:sp>
        <p:nvSpPr>
          <p:cNvPr id="5" name="TextBox 5"/>
          <p:cNvSpPr txBox="1"/>
          <p:nvPr/>
        </p:nvSpPr>
        <p:spPr>
          <a:xfrm>
            <a:off x="474156" y="1656080"/>
            <a:ext cx="11376438" cy="1094740"/>
          </a:xfrm>
          <a:prstGeom prst="rect">
            <a:avLst/>
          </a:prstGeom>
        </p:spPr>
        <p:txBody>
          <a:bodyPr lIns="0" tIns="0" rIns="0" bIns="0" rtlCol="0" anchor="t">
            <a:spAutoFit/>
          </a:bodyPr>
          <a:lstStyle/>
          <a:p>
            <a:pPr algn="ctr">
              <a:lnSpc>
                <a:spcPts val="8960"/>
              </a:lnSpc>
            </a:pPr>
            <a:r>
              <a:rPr lang="en-US" sz="6400" b="1">
                <a:solidFill>
                  <a:srgbClr val="000000"/>
                </a:solidFill>
                <a:latin typeface="Canva Sans Bold"/>
                <a:ea typeface="Canva Sans Bold"/>
                <a:cs typeface="Canva Sans Bold"/>
                <a:sym typeface="Canva Sans Bold"/>
              </a:rPr>
              <a:t>Hardware Requirements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1927" y="3271619"/>
            <a:ext cx="17149170" cy="3986604"/>
          </a:xfrm>
          <a:prstGeom prst="rect">
            <a:avLst/>
          </a:prstGeom>
        </p:spPr>
        <p:txBody>
          <a:bodyPr lIns="0" tIns="0" rIns="0" bIns="0" rtlCol="0" anchor="t">
            <a:spAutoFit/>
          </a:bodyPr>
          <a:lstStyle/>
          <a:p>
            <a:pPr marL="1028701" lvl="2" indent="-342900" algn="l">
              <a:lnSpc>
                <a:spcPts val="6299"/>
              </a:lnSpc>
              <a:buFont typeface="Arial"/>
              <a:buChar char="⚬"/>
            </a:pPr>
            <a:r>
              <a:rPr lang="en-US" sz="4500" dirty="0">
                <a:solidFill>
                  <a:srgbClr val="000000"/>
                </a:solidFill>
                <a:latin typeface="Canva Sans"/>
                <a:ea typeface="Canva Sans"/>
                <a:cs typeface="Canva Sans"/>
                <a:sym typeface="Canva Sans"/>
              </a:rPr>
              <a:t>Platforms used              :  Visual studio </a:t>
            </a:r>
            <a:r>
              <a:rPr lang="en-US" sz="4500" dirty="0" err="1">
                <a:solidFill>
                  <a:srgbClr val="000000"/>
                </a:solidFill>
                <a:latin typeface="Canva Sans"/>
                <a:ea typeface="Canva Sans"/>
                <a:cs typeface="Canva Sans"/>
                <a:sym typeface="Canva Sans"/>
              </a:rPr>
              <a:t>code,Github,Vercel</a:t>
            </a:r>
            <a:endParaRPr lang="en-US" sz="4500" dirty="0">
              <a:solidFill>
                <a:srgbClr val="000000"/>
              </a:solidFill>
              <a:latin typeface="Canva Sans"/>
              <a:ea typeface="Canva Sans"/>
              <a:cs typeface="Canva Sans"/>
              <a:sym typeface="Canva Sans"/>
            </a:endParaRPr>
          </a:p>
          <a:p>
            <a:pPr marL="1028701" lvl="2" indent="-342900" algn="l">
              <a:lnSpc>
                <a:spcPts val="6299"/>
              </a:lnSpc>
              <a:buFont typeface="Arial"/>
              <a:buChar char="⚬"/>
            </a:pPr>
            <a:r>
              <a:rPr lang="en-US" sz="4500" dirty="0">
                <a:solidFill>
                  <a:srgbClr val="000000"/>
                </a:solidFill>
                <a:latin typeface="Canva Sans"/>
                <a:ea typeface="Canva Sans"/>
                <a:cs typeface="Canva Sans"/>
                <a:sym typeface="Canva Sans"/>
              </a:rPr>
              <a:t>Languages used           :    </a:t>
            </a:r>
            <a:r>
              <a:rPr lang="en-US" sz="4500" dirty="0" err="1">
                <a:solidFill>
                  <a:srgbClr val="000000"/>
                </a:solidFill>
                <a:latin typeface="Canva Sans"/>
                <a:ea typeface="Canva Sans"/>
                <a:cs typeface="Canva Sans"/>
                <a:sym typeface="Canva Sans"/>
              </a:rPr>
              <a:t>Html,CSS,Java</a:t>
            </a:r>
            <a:r>
              <a:rPr lang="en-US" sz="4500" dirty="0">
                <a:solidFill>
                  <a:srgbClr val="000000"/>
                </a:solidFill>
                <a:latin typeface="Canva Sans"/>
                <a:ea typeface="Canva Sans"/>
                <a:cs typeface="Canva Sans"/>
                <a:sym typeface="Canva Sans"/>
              </a:rPr>
              <a:t> script </a:t>
            </a:r>
          </a:p>
          <a:p>
            <a:pPr marL="1028701" lvl="2" indent="-342900" algn="l">
              <a:lnSpc>
                <a:spcPts val="6299"/>
              </a:lnSpc>
              <a:buFont typeface="Arial"/>
              <a:buChar char="⚬"/>
            </a:pPr>
            <a:r>
              <a:rPr lang="en-US" sz="4500" dirty="0">
                <a:solidFill>
                  <a:srgbClr val="000000"/>
                </a:solidFill>
                <a:latin typeface="Canva Sans"/>
                <a:ea typeface="Canva Sans"/>
                <a:cs typeface="Canva Sans"/>
                <a:sym typeface="Canva Sans"/>
              </a:rPr>
              <a:t>Database                        :    Firebase</a:t>
            </a:r>
          </a:p>
          <a:p>
            <a:pPr marL="1028701" lvl="2" indent="-342900" algn="l">
              <a:lnSpc>
                <a:spcPts val="6299"/>
              </a:lnSpc>
              <a:buFont typeface="Arial"/>
              <a:buChar char="⚬"/>
            </a:pPr>
            <a:r>
              <a:rPr lang="en-US" sz="4500" dirty="0">
                <a:solidFill>
                  <a:srgbClr val="000000"/>
                </a:solidFill>
                <a:latin typeface="Canva Sans"/>
                <a:ea typeface="Canva Sans"/>
                <a:cs typeface="Canva Sans"/>
                <a:sym typeface="Canva Sans"/>
              </a:rPr>
              <a:t>Backend                          :  python(flask)</a:t>
            </a:r>
          </a:p>
          <a:p>
            <a:pPr marL="1028701" lvl="2" indent="-342900" algn="l">
              <a:lnSpc>
                <a:spcPts val="6299"/>
              </a:lnSpc>
            </a:pPr>
            <a:r>
              <a:rPr lang="en-US" sz="4500" dirty="0">
                <a:solidFill>
                  <a:srgbClr val="000000"/>
                </a:solidFill>
                <a:latin typeface="Canva Sans"/>
                <a:ea typeface="Canva Sans"/>
                <a:cs typeface="Canva Sans"/>
                <a:sym typeface="Canva Sans"/>
              </a:rPr>
              <a:t>             </a:t>
            </a:r>
          </a:p>
        </p:txBody>
      </p:sp>
      <p:sp>
        <p:nvSpPr>
          <p:cNvPr id="3" name="Freeform 3"/>
          <p:cNvSpPr/>
          <p:nvPr/>
        </p:nvSpPr>
        <p:spPr>
          <a:xfrm>
            <a:off x="361170" y="167333"/>
            <a:ext cx="1335059" cy="1335059"/>
          </a:xfrm>
          <a:custGeom>
            <a:avLst/>
            <a:gdLst/>
            <a:ahLst/>
            <a:cxnLst/>
            <a:rect l="l" t="t" r="r" b="b"/>
            <a:pathLst>
              <a:path w="1335059" h="1335059">
                <a:moveTo>
                  <a:pt x="0" y="0"/>
                </a:moveTo>
                <a:lnTo>
                  <a:pt x="1335060" y="0"/>
                </a:lnTo>
                <a:lnTo>
                  <a:pt x="1335060" y="1335060"/>
                </a:lnTo>
                <a:lnTo>
                  <a:pt x="0" y="1335060"/>
                </a:lnTo>
                <a:lnTo>
                  <a:pt x="0" y="0"/>
                </a:lnTo>
                <a:close/>
              </a:path>
            </a:pathLst>
          </a:custGeom>
          <a:blipFill>
            <a:blip r:embed="rId2"/>
            <a:stretch>
              <a:fillRect/>
            </a:stretch>
          </a:blipFill>
        </p:spPr>
      </p:sp>
      <p:sp>
        <p:nvSpPr>
          <p:cNvPr id="4" name="TextBox 4"/>
          <p:cNvSpPr txBox="1"/>
          <p:nvPr/>
        </p:nvSpPr>
        <p:spPr>
          <a:xfrm>
            <a:off x="1028700" y="1805973"/>
            <a:ext cx="10039181" cy="1303643"/>
          </a:xfrm>
          <a:prstGeom prst="rect">
            <a:avLst/>
          </a:prstGeom>
        </p:spPr>
        <p:txBody>
          <a:bodyPr lIns="0" tIns="0" rIns="0" bIns="0" rtlCol="0" anchor="t">
            <a:spAutoFit/>
          </a:bodyPr>
          <a:lstStyle/>
          <a:p>
            <a:pPr algn="ctr">
              <a:lnSpc>
                <a:spcPts val="9519"/>
              </a:lnSpc>
            </a:pPr>
            <a:r>
              <a:rPr lang="en-US" sz="6800" b="1">
                <a:solidFill>
                  <a:srgbClr val="000000"/>
                </a:solidFill>
                <a:latin typeface="Canva Sans Bold"/>
                <a:ea typeface="Canva Sans Bold"/>
                <a:cs typeface="Canva Sans Bold"/>
                <a:sym typeface="Canva Sans Bold"/>
              </a:rPr>
              <a:t>Software Requirements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361170" y="361170"/>
            <a:ext cx="1335059" cy="1335059"/>
          </a:xfrm>
          <a:custGeom>
            <a:avLst/>
            <a:gdLst/>
            <a:ahLst/>
            <a:cxnLst/>
            <a:rect l="l" t="t" r="r" b="b"/>
            <a:pathLst>
              <a:path w="1335059" h="1335059">
                <a:moveTo>
                  <a:pt x="0" y="0"/>
                </a:moveTo>
                <a:lnTo>
                  <a:pt x="1335060" y="0"/>
                </a:lnTo>
                <a:lnTo>
                  <a:pt x="1335060" y="1335060"/>
                </a:lnTo>
                <a:lnTo>
                  <a:pt x="0" y="1335060"/>
                </a:lnTo>
                <a:lnTo>
                  <a:pt x="0" y="0"/>
                </a:lnTo>
                <a:close/>
              </a:path>
            </a:pathLst>
          </a:custGeom>
          <a:blipFill>
            <a:blip r:embed="rId2"/>
            <a:stretch>
              <a:fillRect/>
            </a:stretch>
          </a:blipFill>
        </p:spPr>
      </p:sp>
      <p:sp>
        <p:nvSpPr>
          <p:cNvPr id="5" name="TextBox 5"/>
          <p:cNvSpPr txBox="1"/>
          <p:nvPr/>
        </p:nvSpPr>
        <p:spPr>
          <a:xfrm>
            <a:off x="4145861" y="723900"/>
            <a:ext cx="9996277" cy="1295400"/>
          </a:xfrm>
          <a:prstGeom prst="rect">
            <a:avLst/>
          </a:prstGeom>
        </p:spPr>
        <p:txBody>
          <a:bodyPr lIns="0" tIns="0" rIns="0" bIns="0" rtlCol="0" anchor="t">
            <a:spAutoFit/>
          </a:bodyPr>
          <a:lstStyle/>
          <a:p>
            <a:pPr algn="ctr">
              <a:lnSpc>
                <a:spcPts val="10500"/>
              </a:lnSpc>
            </a:pPr>
            <a:r>
              <a:rPr lang="en-US" sz="7500" b="1">
                <a:solidFill>
                  <a:srgbClr val="000000"/>
                </a:solidFill>
                <a:latin typeface="Canva Sans Bold"/>
                <a:ea typeface="Canva Sans Bold"/>
                <a:cs typeface="Canva Sans Bold"/>
                <a:sym typeface="Canva Sans Bold"/>
              </a:rPr>
              <a:t>Data Flow Diagram</a:t>
            </a:r>
          </a:p>
        </p:txBody>
      </p:sp>
      <p:pic>
        <p:nvPicPr>
          <p:cNvPr id="7" name="Picture 6">
            <a:extLst>
              <a:ext uri="{FF2B5EF4-FFF2-40B4-BE49-F238E27FC236}">
                <a16:creationId xmlns:a16="http://schemas.microsoft.com/office/drawing/2014/main" id="{D8FB1945-583B-70F2-B4A6-D014A8979A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6999" y="2019300"/>
            <a:ext cx="5334000" cy="8001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3688736" y="4647457"/>
            <a:ext cx="10910528" cy="1487385"/>
          </a:xfrm>
          <a:prstGeom prst="rect">
            <a:avLst/>
          </a:prstGeom>
        </p:spPr>
        <p:txBody>
          <a:bodyPr lIns="0" tIns="0" rIns="0" bIns="0" rtlCol="0" anchor="t">
            <a:spAutoFit/>
          </a:bodyPr>
          <a:lstStyle/>
          <a:p>
            <a:pPr algn="l">
              <a:lnSpc>
                <a:spcPts val="13039"/>
              </a:lnSpc>
            </a:pPr>
            <a:r>
              <a:rPr lang="en-US" sz="13040" spc="-782">
                <a:solidFill>
                  <a:srgbClr val="331B0D"/>
                </a:solidFill>
                <a:latin typeface="Open Sauce"/>
                <a:ea typeface="Open Sauce"/>
                <a:cs typeface="Open Sauce"/>
                <a:sym typeface="Open Sauce"/>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470</Words>
  <Application>Microsoft Office PowerPoint</Application>
  <PresentationFormat>Custom</PresentationFormat>
  <Paragraphs>39</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Arial</vt:lpstr>
      <vt:lpstr>Open Sauce Bold</vt:lpstr>
      <vt:lpstr>Open Sauce</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dc:title>
  <cp:lastModifiedBy>hkh93121@gmail.com</cp:lastModifiedBy>
  <cp:revision>4</cp:revision>
  <dcterms:created xsi:type="dcterms:W3CDTF">2006-08-16T00:00:00Z</dcterms:created>
  <dcterms:modified xsi:type="dcterms:W3CDTF">2025-11-29T09:09:27Z</dcterms:modified>
  <dc:identifier>DAG5huUglhQ</dc:identifier>
</cp:coreProperties>
</file>