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Open Sauce" panose="020B0604020202020204" charset="0"/>
      <p:regular r:id="rId15"/>
    </p:embeddedFont>
    <p:embeddedFont>
      <p:font typeface="Open Sauce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2"/>
              <a:stretch>
                <a:fillRect t="-38888" b="-3888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93020" y="537754"/>
            <a:ext cx="17501958" cy="9518668"/>
          </a:xfrm>
          <a:custGeom>
            <a:avLst/>
            <a:gdLst/>
            <a:ahLst/>
            <a:cxnLst/>
            <a:rect l="l" t="t" r="r" b="b"/>
            <a:pathLst>
              <a:path w="17501958" h="9518668">
                <a:moveTo>
                  <a:pt x="0" y="0"/>
                </a:moveTo>
                <a:lnTo>
                  <a:pt x="17501959" y="0"/>
                </a:lnTo>
                <a:lnTo>
                  <a:pt x="17501959" y="9518668"/>
                </a:lnTo>
                <a:lnTo>
                  <a:pt x="0" y="95186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7891" y="866834"/>
            <a:ext cx="7801139" cy="2379347"/>
          </a:xfrm>
          <a:custGeom>
            <a:avLst/>
            <a:gdLst/>
            <a:ahLst/>
            <a:cxnLst/>
            <a:rect l="l" t="t" r="r" b="b"/>
            <a:pathLst>
              <a:path w="7801139" h="2379347">
                <a:moveTo>
                  <a:pt x="0" y="0"/>
                </a:moveTo>
                <a:lnTo>
                  <a:pt x="7801139" y="0"/>
                </a:lnTo>
                <a:lnTo>
                  <a:pt x="7801139" y="2379347"/>
                </a:lnTo>
                <a:lnTo>
                  <a:pt x="0" y="23793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37135" y="3399790"/>
            <a:ext cx="11213729" cy="174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Voice Tool For Deaf And Hearing </a:t>
            </a:r>
          </a:p>
          <a:p>
            <a:pPr algn="ctr">
              <a:lnSpc>
                <a:spcPts val="675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Communities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6100" y="6353705"/>
            <a:ext cx="8084721" cy="338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70"/>
              </a:lnSpc>
            </a:pPr>
            <a:r>
              <a:rPr lang="en-US" sz="4407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Done By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Keerthivasan S 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23106091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III Bsc cs shift 2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Sri Ramakrishna College of Arts and Science</a:t>
            </a:r>
          </a:p>
          <a:p>
            <a:pPr algn="ctr">
              <a:lnSpc>
                <a:spcPts val="4466"/>
              </a:lnSpc>
            </a:pPr>
            <a:endParaRPr lang="en-US" sz="29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32822" y="6344180"/>
            <a:ext cx="8462156" cy="303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2"/>
              </a:lnSpc>
            </a:pPr>
            <a:r>
              <a:rPr lang="en-US" sz="44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 The Guidance Of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Dr.N.Mahendiran 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Assistant professor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Sri Ramakrishna College of Arts and Science   </a:t>
            </a:r>
          </a:p>
          <a:p>
            <a:pPr algn="l">
              <a:lnSpc>
                <a:spcPts val="5703"/>
              </a:lnSpc>
            </a:pPr>
            <a:r>
              <a:rPr lang="en-US" sz="4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81663" y="1921751"/>
            <a:ext cx="13645522" cy="7336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64"/>
              </a:lnSpc>
            </a:pPr>
            <a:endParaRPr/>
          </a:p>
          <a:p>
            <a:pPr algn="just">
              <a:lnSpc>
                <a:spcPts val="3664"/>
              </a:lnSpc>
            </a:pPr>
            <a:endParaRPr/>
          </a:p>
          <a:p>
            <a:pPr algn="just">
              <a:lnSpc>
                <a:spcPts val="3664"/>
              </a:lnSpc>
            </a:pPr>
            <a:r>
              <a:rPr lang="en-US" sz="281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project presents a Voice-to-Sign Language Translator that converts spoken English into corresponding sign language gestures using a curated word-level sign language video dataset. The system is designed to bridge communication gaps between hearing individuals and the Deaf community by enabling real-time translation of voice commands into sign language animations. The application integrates a speech recognition module to accurately transcribe spoken words, followed by a gloss-matching engine that identifies the appropriate sign videos from the dataset. The selected sign videos are then displayed instantly on a web-based chatbot-style interface, ensuring smooth and natural interaction. The system avoids storing video outputs on the server, focusing instead on efficient streaming for enhanced performance. This work demonstrates a practical, scalable, and accessible approach to assistive communication technology, showcasing the potential of AI-driven multimodal translation tools in inclusive digital environments.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36648" y="1392478"/>
            <a:ext cx="2935552" cy="9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 </a:t>
            </a:r>
          </a:p>
        </p:txBody>
      </p:sp>
      <p:sp>
        <p:nvSpPr>
          <p:cNvPr id="5" name="Freeform 5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20639" y="933450"/>
            <a:ext cx="4246721" cy="887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79"/>
              </a:lnSpc>
              <a:spcBef>
                <a:spcPct val="0"/>
              </a:spcBef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7827" y="3246132"/>
            <a:ext cx="15260023" cy="508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62"/>
              </a:lnSpc>
              <a:spcBef>
                <a:spcPct val="0"/>
              </a:spcBef>
            </a:pPr>
            <a:r>
              <a:rPr lang="en-US" sz="361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 project focuses on creating a Voice-to-Sign Language Translator that converts spoken English into sign language gestures in real time. By combining speech recognition with a curated sign video dataset, the system allows users to speak naturally and instantly view the corresponding sign animations on a web interface. The tool aims to support communication between hearing individuals and the Deaf community through an accessible and efficient AI-powered solution.</a:t>
            </a:r>
          </a:p>
        </p:txBody>
      </p:sp>
      <p:sp>
        <p:nvSpPr>
          <p:cNvPr id="4" name="Freeform 4"/>
          <p:cNvSpPr/>
          <p:nvPr/>
        </p:nvSpPr>
        <p:spPr>
          <a:xfrm>
            <a:off x="658367" y="400183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4"/>
                </a:lnTo>
                <a:lnTo>
                  <a:pt x="0" y="948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2"/>
              <a:stretch>
                <a:fillRect t="-38888" b="-3888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42899" y="2374428"/>
            <a:ext cx="16086337" cy="701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9"/>
              </a:lnSpc>
            </a:pPr>
            <a:endParaRPr/>
          </a:p>
          <a:p>
            <a:pPr algn="l">
              <a:lnSpc>
                <a:spcPts val="3129"/>
              </a:lnSpc>
            </a:pPr>
            <a:endParaRPr/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communication systems between hearing and non-hearing individuals are limited in the following ways: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real-time translation between speech and sign language.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Many tools rely only on text-to-sign, not voice-to-sign.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Existing apps often use GIF-based or low-quality sign animations, lacking accurate SL gesture mapping.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interpretation through human sign-language interpreters is required in many scenarios.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Most available systems do not utilize large datasets like WLSL, which contains thousands of SL videos.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Limited accessibility tools for education, hospitals, classrooms, and public communication.</a:t>
            </a:r>
          </a:p>
          <a:p>
            <a:pPr marL="550355" lvl="2" indent="-183452" algn="l">
              <a:lnSpc>
                <a:spcPts val="3129"/>
              </a:lnSpc>
            </a:pPr>
            <a:endParaRPr lang="en-US" sz="2406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50355" lvl="2" indent="-183452" algn="l">
              <a:lnSpc>
                <a:spcPts val="3129"/>
              </a:lnSpc>
              <a:buFont typeface="Arial"/>
              <a:buChar char="⚬"/>
            </a:pPr>
            <a:r>
              <a:rPr lang="en-US" sz="240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These limitations highlight the need for a more efficient and automated voice-to-sign translation system.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2879" y="838200"/>
            <a:ext cx="15458017" cy="88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system</a:t>
            </a:r>
          </a:p>
        </p:txBody>
      </p:sp>
      <p:sp>
        <p:nvSpPr>
          <p:cNvPr id="7" name="Freeform 7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2"/>
              <a:stretch>
                <a:fillRect t="-38888" b="-3888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64293" y="2920895"/>
            <a:ext cx="13467321" cy="646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8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proposed system provides an automated pipeline that:</a:t>
            </a:r>
          </a:p>
          <a:p>
            <a:pPr algn="l">
              <a:lnSpc>
                <a:spcPts val="3429"/>
              </a:lnSpc>
            </a:pPr>
            <a:endParaRPr lang="en-US" sz="283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429"/>
              </a:lnSpc>
            </a:pPr>
            <a:r>
              <a:rPr lang="en-US" sz="26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Captures user’s voice through a microphone.</a:t>
            </a:r>
          </a:p>
          <a:p>
            <a:pPr algn="l">
              <a:lnSpc>
                <a:spcPts val="3429"/>
              </a:lnSpc>
            </a:pPr>
            <a:endParaRPr lang="en-US" sz="263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429"/>
              </a:lnSpc>
            </a:pPr>
            <a:r>
              <a:rPr lang="en-US" sz="26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Converts speech to text using ASR (Automatic Speech Recognition) such as Google Speech API or Vosk.</a:t>
            </a:r>
          </a:p>
          <a:p>
            <a:pPr algn="l">
              <a:lnSpc>
                <a:spcPts val="3429"/>
              </a:lnSpc>
            </a:pPr>
            <a:endParaRPr lang="en-US" sz="263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429"/>
              </a:lnSpc>
            </a:pPr>
            <a:r>
              <a:rPr lang="en-US" sz="26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Extracts keywords and matches them with corresponding glosses in the WLSL dataset.</a:t>
            </a:r>
          </a:p>
          <a:p>
            <a:pPr algn="l">
              <a:lnSpc>
                <a:spcPts val="3429"/>
              </a:lnSpc>
            </a:pPr>
            <a:endParaRPr lang="en-US" sz="263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429"/>
              </a:lnSpc>
            </a:pPr>
            <a:r>
              <a:rPr lang="en-US" sz="26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Streams the sign-language videos instantly in the user interface without storing them on the backend.</a:t>
            </a:r>
          </a:p>
          <a:p>
            <a:pPr algn="l">
              <a:lnSpc>
                <a:spcPts val="3429"/>
              </a:lnSpc>
            </a:pPr>
            <a:endParaRPr lang="en-US" sz="2638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429"/>
              </a:lnSpc>
            </a:pPr>
            <a:r>
              <a:rPr lang="en-US" sz="263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Displays videos in a chatbot-style UI, making the system interactive and user-friendly.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78568" y="1177976"/>
            <a:ext cx="15078519" cy="88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 flipH="1" flipV="1"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2"/>
              <a:stretch>
                <a:fillRect t="-38888" b="-3888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851369" y="-344259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1"/>
                </a:lnTo>
                <a:lnTo>
                  <a:pt x="0" y="68851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8" r="-2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59988" y="2748475"/>
          <a:ext cx="14968026" cy="5998698"/>
        </p:xfrm>
        <a:graphic>
          <a:graphicData uri="http://schemas.openxmlformats.org/drawingml/2006/table">
            <a:tbl>
              <a:tblPr/>
              <a:tblGrid>
                <a:gridCol w="465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8733">
                <a:tc>
                  <a:txBody>
                    <a:bodyPr/>
                    <a:lstStyle/>
                    <a:p>
                      <a:pPr algn="ctr">
                        <a:lnSpc>
                          <a:spcPts val="6579"/>
                        </a:lnSpc>
                        <a:defRPr/>
                      </a:pPr>
                      <a:r>
                        <a:rPr lang="en-US" sz="46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580"/>
                        </a:lnSpc>
                        <a:defRPr/>
                      </a:pPr>
                      <a:r>
                        <a:rPr lang="en-US" sz="47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580"/>
                        </a:lnSpc>
                        <a:defRPr/>
                      </a:pPr>
                      <a:r>
                        <a:rPr lang="en-US" sz="47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733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HTML/CSS/JS,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 3.9+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VS Code,Cursor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8733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MediaRecorder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Google Speech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Browser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49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Video playback</a:t>
                      </a:r>
                      <a:endParaRPr lang="en-US" sz="1100"/>
                    </a:p>
                    <a:p>
                      <a:pPr algn="ctr">
                        <a:lnSpc>
                          <a:spcPts val="41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OpenCV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Postman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354214" y="933450"/>
            <a:ext cx="7579572" cy="88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requirements </a:t>
            </a:r>
          </a:p>
        </p:txBody>
      </p:sp>
      <p:sp>
        <p:nvSpPr>
          <p:cNvPr id="8" name="Freeform 8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6800" y="372605"/>
            <a:ext cx="9071372" cy="209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  <a:spcBef>
                <a:spcPct val="0"/>
              </a:spcBef>
            </a:pPr>
            <a:r>
              <a:rPr lang="en-US" sz="603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Requirements</a:t>
            </a:r>
          </a:p>
          <a:p>
            <a:pPr algn="ctr">
              <a:lnSpc>
                <a:spcPts val="8449"/>
              </a:lnSpc>
              <a:spcBef>
                <a:spcPct val="0"/>
              </a:spcBef>
            </a:pPr>
            <a:endParaRPr lang="en-US" sz="6034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31529" y="2668243"/>
            <a:ext cx="13627060" cy="640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Processor: Dual-core CPU</a:t>
            </a:r>
          </a:p>
          <a:p>
            <a:pPr algn="l">
              <a:lnSpc>
                <a:spcPts val="5634"/>
              </a:lnSpc>
              <a:spcBef>
                <a:spcPct val="0"/>
              </a:spcBef>
            </a:pPr>
            <a:endParaRPr lang="en-US" sz="40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RAM: 4GB</a:t>
            </a:r>
          </a:p>
          <a:p>
            <a:pPr algn="l">
              <a:lnSpc>
                <a:spcPts val="5634"/>
              </a:lnSpc>
              <a:spcBef>
                <a:spcPct val="0"/>
              </a:spcBef>
            </a:pPr>
            <a:endParaRPr lang="en-US" sz="40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Storage: 2GB (for project code &amp; dataset subset)</a:t>
            </a:r>
          </a:p>
          <a:p>
            <a:pPr algn="l">
              <a:lnSpc>
                <a:spcPts val="5634"/>
              </a:lnSpc>
              <a:spcBef>
                <a:spcPct val="0"/>
              </a:spcBef>
            </a:pPr>
            <a:endParaRPr lang="en-US" sz="40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Microphone: Any standard USB/embedded microphone</a:t>
            </a:r>
          </a:p>
          <a:p>
            <a:pPr algn="l">
              <a:lnSpc>
                <a:spcPts val="5634"/>
              </a:lnSpc>
              <a:spcBef>
                <a:spcPct val="0"/>
              </a:spcBef>
            </a:pPr>
            <a:endParaRPr lang="en-US" sz="40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634"/>
              </a:lnSpc>
              <a:spcBef>
                <a:spcPct val="0"/>
              </a:spcBef>
            </a:pPr>
            <a:r>
              <a:rPr lang="en-US" sz="40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System: Laptop/PC capable of running Python</a:t>
            </a:r>
          </a:p>
        </p:txBody>
      </p:sp>
      <p:sp>
        <p:nvSpPr>
          <p:cNvPr id="5" name="Freeform 5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65521" y="1965021"/>
            <a:ext cx="6356958" cy="7293279"/>
            <a:chOff x="0" y="0"/>
            <a:chExt cx="8475944" cy="97243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75980" cy="9724390"/>
            </a:xfrm>
            <a:custGeom>
              <a:avLst/>
              <a:gdLst/>
              <a:ahLst/>
              <a:cxnLst/>
              <a:rect l="l" t="t" r="r" b="b"/>
              <a:pathLst>
                <a:path w="8475980" h="9724390">
                  <a:moveTo>
                    <a:pt x="0" y="0"/>
                  </a:moveTo>
                  <a:lnTo>
                    <a:pt x="8475980" y="0"/>
                  </a:lnTo>
                  <a:lnTo>
                    <a:pt x="8475980" y="9724390"/>
                  </a:lnTo>
                  <a:lnTo>
                    <a:pt x="0" y="972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364" r="-7364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5965521" y="442277"/>
            <a:ext cx="5992495" cy="982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 diagram</a:t>
            </a:r>
          </a:p>
        </p:txBody>
      </p:sp>
      <p:sp>
        <p:nvSpPr>
          <p:cNvPr id="6" name="Freeform 6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70326" y="457673"/>
            <a:ext cx="4387215" cy="102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9"/>
              </a:lnSpc>
              <a:spcBef>
                <a:spcPct val="0"/>
              </a:spcBef>
            </a:pPr>
            <a:r>
              <a:rPr lang="en-US" sz="60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7745" y="2635271"/>
            <a:ext cx="15148452" cy="5913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developed system successfully demonstrates how voice input can be translated into sign language animations using AI and a structured video dataset. Its real-time performance, efficient streaming, and easy web-based interaction make it a practical tool for inclusive communication. This work highlights the potential of AI-driven translators to improve accessibility and support the Deaf community in everyday interactions.</a:t>
            </a:r>
          </a:p>
        </p:txBody>
      </p:sp>
      <p:sp>
        <p:nvSpPr>
          <p:cNvPr id="4" name="Freeform 4"/>
          <p:cNvSpPr/>
          <p:nvPr/>
        </p:nvSpPr>
        <p:spPr>
          <a:xfrm>
            <a:off x="534409" y="545259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3302" y="316669"/>
            <a:ext cx="17750593" cy="9568380"/>
          </a:xfrm>
          <a:custGeom>
            <a:avLst/>
            <a:gdLst/>
            <a:ahLst/>
            <a:cxnLst/>
            <a:rect l="l" t="t" r="r" b="b"/>
            <a:pathLst>
              <a:path w="17750593" h="9568380">
                <a:moveTo>
                  <a:pt x="0" y="0"/>
                </a:moveTo>
                <a:lnTo>
                  <a:pt x="17750593" y="0"/>
                </a:lnTo>
                <a:lnTo>
                  <a:pt x="17750593" y="9568379"/>
                </a:lnTo>
                <a:lnTo>
                  <a:pt x="0" y="956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4952" y="398415"/>
            <a:ext cx="17598943" cy="9486634"/>
          </a:xfrm>
          <a:custGeom>
            <a:avLst/>
            <a:gdLst/>
            <a:ahLst/>
            <a:cxnLst/>
            <a:rect l="l" t="t" r="r" b="b"/>
            <a:pathLst>
              <a:path w="17598943" h="9486634">
                <a:moveTo>
                  <a:pt x="0" y="0"/>
                </a:moveTo>
                <a:lnTo>
                  <a:pt x="17598943" y="0"/>
                </a:lnTo>
                <a:lnTo>
                  <a:pt x="17598943" y="9486633"/>
                </a:lnTo>
                <a:lnTo>
                  <a:pt x="0" y="9486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13306" y="3542417"/>
            <a:ext cx="11861389" cy="2878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24"/>
              </a:lnSpc>
            </a:pPr>
            <a:r>
              <a:rPr lang="en-US" sz="1678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 </a:t>
            </a:r>
          </a:p>
        </p:txBody>
      </p:sp>
      <p:sp>
        <p:nvSpPr>
          <p:cNvPr id="4" name="Freeform 4"/>
          <p:cNvSpPr/>
          <p:nvPr/>
        </p:nvSpPr>
        <p:spPr>
          <a:xfrm>
            <a:off x="675086" y="647668"/>
            <a:ext cx="2051912" cy="2051912"/>
          </a:xfrm>
          <a:custGeom>
            <a:avLst/>
            <a:gdLst/>
            <a:ahLst/>
            <a:cxnLst/>
            <a:rect l="l" t="t" r="r" b="b"/>
            <a:pathLst>
              <a:path w="2051912" h="2051912">
                <a:moveTo>
                  <a:pt x="0" y="0"/>
                </a:moveTo>
                <a:lnTo>
                  <a:pt x="2051912" y="0"/>
                </a:lnTo>
                <a:lnTo>
                  <a:pt x="2051912" y="2051912"/>
                </a:lnTo>
                <a:lnTo>
                  <a:pt x="0" y="2051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Microsoft Office PowerPoint</Application>
  <PresentationFormat>Custom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Canva Sans Bold</vt:lpstr>
      <vt:lpstr>Calibri</vt:lpstr>
      <vt:lpstr>Open Sauce</vt:lpstr>
      <vt:lpstr>Arial</vt:lpstr>
      <vt:lpstr>Open Sauce Bold</vt:lpstr>
      <vt:lpstr>Arimo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vasan 1st review.pptx</dc:title>
  <cp:lastModifiedBy>hkh93121@gmail.com</cp:lastModifiedBy>
  <cp:revision>2</cp:revision>
  <dcterms:created xsi:type="dcterms:W3CDTF">2006-08-16T00:00:00Z</dcterms:created>
  <dcterms:modified xsi:type="dcterms:W3CDTF">2025-11-28T05:59:36Z</dcterms:modified>
  <dc:identifier>DAG55tz-_fE</dc:identifier>
</cp:coreProperties>
</file>